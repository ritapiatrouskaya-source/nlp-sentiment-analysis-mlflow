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7ac48597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7ac48597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47ac48597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47ac48597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47ac48597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47ac48597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47ac48597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47ac48597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47ac48597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47ac48597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47ac48597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47ac48597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47ac48597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47ac48597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47ac48597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47ac48597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47ac48597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47ac48597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47ac48597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47ac48597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c0de996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c0de996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52963d0d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52963d0d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52963d0d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52963d0d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52963d0d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52963d0d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52963d0d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52963d0d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95325" y="1260050"/>
            <a:ext cx="7629900" cy="13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Vergleich von Machine-Learning- und 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NLP-Methoden zur Sentimentanalyse von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Amazon-Kundenbewertungen</a:t>
            </a:r>
            <a:endParaRPr sz="5700">
              <a:solidFill>
                <a:srgbClr val="0000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743350" y="3251900"/>
            <a:ext cx="3657300" cy="9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                         </a:t>
            </a:r>
            <a:r>
              <a:rPr lang="de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Marharyta Piatrouskaya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Matrikelnummer:         860324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Betreuer:                     </a:t>
            </a:r>
            <a:r>
              <a:rPr lang="de" sz="52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Dr. Coskun Akinalp</a:t>
            </a:r>
            <a:endParaRPr sz="5200">
              <a:solidFill>
                <a:srgbClr val="1E1E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Abgabedatum</a:t>
            </a:r>
            <a:r>
              <a:rPr lang="de" sz="5200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:             22.05.2026</a:t>
            </a:r>
            <a:endParaRPr sz="5200">
              <a:solidFill>
                <a:srgbClr val="1E1E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2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2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2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7300" y="0"/>
            <a:ext cx="23567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400725" y="4633550"/>
            <a:ext cx="1446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1</a:t>
            </a:r>
            <a:endParaRPr sz="11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91850" y="171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/>
              <a:t>Projektidee und Motivation</a:t>
            </a:r>
            <a:endParaRPr sz="2200"/>
          </a:p>
        </p:txBody>
      </p:sp>
      <p:sp>
        <p:nvSpPr>
          <p:cNvPr id="63" name="Google Shape;63;p14"/>
          <p:cNvSpPr/>
          <p:nvPr/>
        </p:nvSpPr>
        <p:spPr>
          <a:xfrm>
            <a:off x="530800" y="2715963"/>
            <a:ext cx="2356500" cy="8235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de">
                <a:solidFill>
                  <a:srgbClr val="1E1E1E"/>
                </a:solidFill>
              </a:rPr>
              <a:t>Grundlage für Empfehlungssysteme</a:t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22575" y="1542000"/>
            <a:ext cx="2172960" cy="669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de">
                <a:solidFill>
                  <a:srgbClr val="1E1E1E"/>
                </a:solidFill>
              </a:rPr>
              <a:t>Automatische Analyse großer Textmengen</a:t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3505826" y="3424213"/>
            <a:ext cx="2240400" cy="7419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de">
                <a:solidFill>
                  <a:srgbClr val="1E1E1E"/>
                </a:solidFill>
              </a:rPr>
              <a:t> Vergleich NLP- und ML-Methoden</a:t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547050" y="903200"/>
            <a:ext cx="2157948" cy="8235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rgbClr val="1E1E1E"/>
                </a:solidFill>
              </a:rPr>
              <a:t>Erkennung von</a:t>
            </a:r>
            <a:endParaRPr>
              <a:solidFill>
                <a:srgbClr val="1E1E1E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1E1E1E"/>
                </a:solidFill>
              </a:rPr>
              <a:t>Kundenmeinungen</a:t>
            </a:r>
            <a:endParaRPr>
              <a:solidFill>
                <a:srgbClr val="1E1E1E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1E1E1E"/>
                </a:solidFill>
              </a:rPr>
              <a:t>und Stimmungen </a:t>
            </a:r>
            <a:endParaRPr>
              <a:solidFill>
                <a:srgbClr val="1E1E1E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6224700" y="1465050"/>
            <a:ext cx="2402406" cy="8235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de">
                <a:solidFill>
                  <a:srgbClr val="1E1E1E"/>
                </a:solidFill>
              </a:rPr>
              <a:t>Identifikation von Problemen und Schwachstellen</a:t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6244550" y="2702000"/>
            <a:ext cx="2402406" cy="851418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de">
                <a:solidFill>
                  <a:srgbClr val="1E1E1E"/>
                </a:solidFill>
              </a:rPr>
              <a:t>Analyse der Bedeutung einzelner Wörter und Wortkombinationen</a:t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410650" y="4751500"/>
            <a:ext cx="1446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2</a:t>
            </a:r>
            <a:endParaRPr sz="1100">
              <a:solidFill>
                <a:srgbClr val="666666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3524425" y="2346525"/>
            <a:ext cx="2203200" cy="492300"/>
          </a:xfrm>
          <a:prstGeom prst="flowChartAlternateProcess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1E1E1E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900">
                <a:solidFill>
                  <a:srgbClr val="1E1E1E"/>
                </a:solidFill>
              </a:rPr>
              <a:t>Sentimentanalyse</a:t>
            </a:r>
            <a:r>
              <a:rPr lang="de">
                <a:solidFill>
                  <a:srgbClr val="1E1E1E"/>
                </a:solidFill>
              </a:rPr>
              <a:t>  </a:t>
            </a:r>
            <a:endParaRPr>
              <a:solidFill>
                <a:srgbClr val="1E1E1E"/>
              </a:solidFill>
            </a:endParaRPr>
          </a:p>
        </p:txBody>
      </p:sp>
      <p:cxnSp>
        <p:nvCxnSpPr>
          <p:cNvPr id="71" name="Google Shape;71;p14"/>
          <p:cNvCxnSpPr>
            <a:endCxn id="67" idx="1"/>
          </p:cNvCxnSpPr>
          <p:nvPr/>
        </p:nvCxnSpPr>
        <p:spPr>
          <a:xfrm flipH="1" rot="10800000">
            <a:off x="5700000" y="1876800"/>
            <a:ext cx="524700" cy="4995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4"/>
          <p:cNvCxnSpPr>
            <a:endCxn id="68" idx="1"/>
          </p:cNvCxnSpPr>
          <p:nvPr/>
        </p:nvCxnSpPr>
        <p:spPr>
          <a:xfrm>
            <a:off x="5700050" y="2788109"/>
            <a:ext cx="544500" cy="33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70" idx="2"/>
            <a:endCxn id="65" idx="0"/>
          </p:cNvCxnSpPr>
          <p:nvPr/>
        </p:nvCxnSpPr>
        <p:spPr>
          <a:xfrm>
            <a:off x="4626025" y="2838825"/>
            <a:ext cx="0" cy="585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>
            <a:stCxn id="70" idx="0"/>
            <a:endCxn id="66" idx="2"/>
          </p:cNvCxnSpPr>
          <p:nvPr/>
        </p:nvCxnSpPr>
        <p:spPr>
          <a:xfrm rot="10800000">
            <a:off x="4626025" y="1726725"/>
            <a:ext cx="0" cy="619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4"/>
          <p:cNvCxnSpPr>
            <a:endCxn id="64" idx="3"/>
          </p:cNvCxnSpPr>
          <p:nvPr/>
        </p:nvCxnSpPr>
        <p:spPr>
          <a:xfrm rot="10800000">
            <a:off x="2795535" y="1876800"/>
            <a:ext cx="736500" cy="529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4"/>
          <p:cNvCxnSpPr>
            <a:endCxn id="63" idx="3"/>
          </p:cNvCxnSpPr>
          <p:nvPr/>
        </p:nvCxnSpPr>
        <p:spPr>
          <a:xfrm flipH="1">
            <a:off x="2887300" y="2812713"/>
            <a:ext cx="600900" cy="315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 title="to e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25" y="74400"/>
            <a:ext cx="8508000" cy="48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3321350" y="4751500"/>
            <a:ext cx="1446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3</a:t>
            </a:r>
            <a:endParaRPr sz="11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61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220"/>
              <a:t>Amazon Reviews Datensatz </a:t>
            </a:r>
            <a:endParaRPr sz="2220"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128150" y="1624325"/>
            <a:ext cx="4683900" cy="25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•  </a:t>
            </a:r>
            <a:r>
              <a:rPr lang="de">
                <a:solidFill>
                  <a:schemeClr val="dk1"/>
                </a:solidFill>
              </a:rPr>
              <a:t>3,6 Mio. Kundenbewertungen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•  Zwei Klassen:</a:t>
            </a:r>
            <a:endParaRPr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–  Positiv (1)</a:t>
            </a:r>
            <a:endParaRPr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–  Negativ (0)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•  Textdaten und Klassenlabel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3321350" y="4751500"/>
            <a:ext cx="1446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4</a:t>
            </a:r>
            <a:endParaRPr sz="1100">
              <a:solidFill>
                <a:srgbClr val="666666"/>
              </a:solidFill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7992" y="834175"/>
            <a:ext cx="5232083" cy="391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31550" y="16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200"/>
              <a:t>Verteilung der Textlängen </a:t>
            </a:r>
            <a:endParaRPr sz="2200"/>
          </a:p>
        </p:txBody>
      </p:sp>
      <p:sp>
        <p:nvSpPr>
          <p:cNvPr id="96" name="Google Shape;96;p17"/>
          <p:cNvSpPr txBox="1"/>
          <p:nvPr/>
        </p:nvSpPr>
        <p:spPr>
          <a:xfrm>
            <a:off x="3326300" y="4836925"/>
            <a:ext cx="1446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5</a:t>
            </a:r>
            <a:endParaRPr sz="1100">
              <a:solidFill>
                <a:srgbClr val="666666"/>
              </a:solidFill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3">
            <a:alphaModFix/>
          </a:blip>
          <a:srcRect b="0" l="1701" r="0" t="0"/>
          <a:stretch/>
        </p:blipFill>
        <p:spPr>
          <a:xfrm>
            <a:off x="1050925" y="615150"/>
            <a:ext cx="6886574" cy="430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5552225" y="2368350"/>
            <a:ext cx="2217600" cy="1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2"/>
                </a:solidFill>
              </a:rPr>
              <a:t>Negative Bewertungen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2"/>
                </a:solidFill>
              </a:rPr>
              <a:t>sind tendenziell länger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2"/>
                </a:solidFill>
              </a:rPr>
              <a:t>als positive Texte.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267050" y="107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Häufigste</a:t>
            </a:r>
            <a:r>
              <a:rPr lang="de"/>
              <a:t> </a:t>
            </a:r>
            <a:r>
              <a:rPr lang="de"/>
              <a:t>Worte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3561875" y="4830850"/>
            <a:ext cx="144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6</a:t>
            </a:r>
            <a:endParaRPr sz="1100">
              <a:solidFill>
                <a:srgbClr val="666666"/>
              </a:solidFill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00" y="643800"/>
            <a:ext cx="7371951" cy="42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122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/>
              <a:t>Bigramm-Analyse </a:t>
            </a:r>
            <a:endParaRPr sz="2200"/>
          </a:p>
        </p:txBody>
      </p:sp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6147"/>
          <a:stretch/>
        </p:blipFill>
        <p:spPr>
          <a:xfrm>
            <a:off x="605150" y="695250"/>
            <a:ext cx="7406750" cy="425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3537075" y="4835825"/>
            <a:ext cx="144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7</a:t>
            </a:r>
            <a:endParaRPr sz="11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/>
        </p:nvSpPr>
        <p:spPr>
          <a:xfrm>
            <a:off x="3537075" y="4835825"/>
            <a:ext cx="144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8</a:t>
            </a:r>
            <a:endParaRPr sz="1100">
              <a:solidFill>
                <a:srgbClr val="666666"/>
              </a:solidFill>
            </a:endParaRPr>
          </a:p>
        </p:txBody>
      </p:sp>
      <p:pic>
        <p:nvPicPr>
          <p:cNvPr id="118" name="Google Shape;118;p20" title="to prepro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425" y="117675"/>
            <a:ext cx="8568925" cy="486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18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220"/>
              <a:t>Experimental Pipeline </a:t>
            </a:r>
            <a:endParaRPr sz="2220"/>
          </a:p>
        </p:txBody>
      </p:sp>
      <p:sp>
        <p:nvSpPr>
          <p:cNvPr id="124" name="Google Shape;124;p21"/>
          <p:cNvSpPr txBox="1"/>
          <p:nvPr/>
        </p:nvSpPr>
        <p:spPr>
          <a:xfrm>
            <a:off x="3537075" y="4835825"/>
            <a:ext cx="144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9</a:t>
            </a:r>
            <a:endParaRPr sz="1100">
              <a:solidFill>
                <a:srgbClr val="666666"/>
              </a:solidFill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654850" y="1006750"/>
            <a:ext cx="1547700" cy="545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Raw Text</a:t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654850" y="1769675"/>
            <a:ext cx="1547700" cy="545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Text in Kleinbuchstaben</a:t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654850" y="2532600"/>
            <a:ext cx="1547700" cy="545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Text ohne Punctuation</a:t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654800" y="3295525"/>
            <a:ext cx="1547700" cy="545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Text ohne Stopwörter</a:t>
            </a:r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654850" y="4058450"/>
            <a:ext cx="1547700" cy="545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Text nach </a:t>
            </a:r>
            <a:r>
              <a:rPr lang="de"/>
              <a:t>dem</a:t>
            </a:r>
            <a:r>
              <a:rPr lang="de"/>
              <a:t> </a:t>
            </a:r>
            <a:r>
              <a:rPr lang="de"/>
              <a:t>Lemmatisierung</a:t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3270725" y="1660450"/>
            <a:ext cx="1693500" cy="680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TF-IDF</a:t>
            </a:r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3270725" y="2532600"/>
            <a:ext cx="1693500" cy="680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BoW</a:t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6032425" y="1006750"/>
            <a:ext cx="2395800" cy="464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Logistic Regression</a:t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6032425" y="1660450"/>
            <a:ext cx="2370900" cy="464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Naive Bayes</a:t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6032425" y="2314138"/>
            <a:ext cx="2370900" cy="464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SVM</a:t>
            </a:r>
            <a:endParaRPr/>
          </a:p>
        </p:txBody>
      </p:sp>
      <p:sp>
        <p:nvSpPr>
          <p:cNvPr id="135" name="Google Shape;135;p21"/>
          <p:cNvSpPr/>
          <p:nvPr/>
        </p:nvSpPr>
        <p:spPr>
          <a:xfrm>
            <a:off x="6044875" y="3621550"/>
            <a:ext cx="2346000" cy="464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Random Forest</a:t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6032425" y="2992650"/>
            <a:ext cx="2346000" cy="464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Decision</a:t>
            </a:r>
            <a:r>
              <a:rPr lang="de"/>
              <a:t> Tree</a:t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6057325" y="4250450"/>
            <a:ext cx="2346000" cy="464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LLM (ChatGPT)</a:t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2386200" y="2331650"/>
            <a:ext cx="764100" cy="29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5116288" y="2365000"/>
            <a:ext cx="764100" cy="29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117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220"/>
              <a:t>Preprocessing Vergleich</a:t>
            </a:r>
            <a:endParaRPr sz="2220"/>
          </a:p>
        </p:txBody>
      </p:sp>
      <p:sp>
        <p:nvSpPr>
          <p:cNvPr id="145" name="Google Shape;145;p22"/>
          <p:cNvSpPr txBox="1"/>
          <p:nvPr/>
        </p:nvSpPr>
        <p:spPr>
          <a:xfrm>
            <a:off x="3537075" y="4835825"/>
            <a:ext cx="144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10</a:t>
            </a:r>
            <a:endParaRPr sz="1100">
              <a:solidFill>
                <a:srgbClr val="666666"/>
              </a:solidFill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3">
            <a:alphaModFix/>
          </a:blip>
          <a:srcRect b="0" l="0" r="0" t="3679"/>
          <a:stretch/>
        </p:blipFill>
        <p:spPr>
          <a:xfrm>
            <a:off x="335000" y="666350"/>
            <a:ext cx="8474025" cy="41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176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de" sz="2400"/>
              <a:t>Vergleich klassischer Modelle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ct val="44595"/>
              <a:buNone/>
            </a:pPr>
            <a:r>
              <a:t/>
            </a:r>
            <a:endParaRPr sz="2220"/>
          </a:p>
        </p:txBody>
      </p:sp>
      <p:sp>
        <p:nvSpPr>
          <p:cNvPr id="152" name="Google Shape;152;p23"/>
          <p:cNvSpPr txBox="1"/>
          <p:nvPr/>
        </p:nvSpPr>
        <p:spPr>
          <a:xfrm>
            <a:off x="3537075" y="4835825"/>
            <a:ext cx="144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11</a:t>
            </a:r>
            <a:endParaRPr sz="1100">
              <a:solidFill>
                <a:srgbClr val="666666"/>
              </a:solidFill>
            </a:endParaRPr>
          </a:p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3">
            <a:alphaModFix/>
          </a:blip>
          <a:srcRect b="0" l="0" r="0" t="2181"/>
          <a:stretch/>
        </p:blipFill>
        <p:spPr>
          <a:xfrm>
            <a:off x="248200" y="779900"/>
            <a:ext cx="6628677" cy="40559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/>
          <p:nvPr/>
        </p:nvSpPr>
        <p:spPr>
          <a:xfrm>
            <a:off x="6836825" y="898875"/>
            <a:ext cx="2238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200">
                <a:solidFill>
                  <a:srgbClr val="1E1E1E"/>
                </a:solidFill>
              </a:rPr>
              <a:t>• LogReg und SVM erzielten die besten Ergebnisse.</a:t>
            </a:r>
            <a:endParaRPr sz="1200">
              <a:solidFill>
                <a:srgbClr val="1E1E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E1E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200">
                <a:solidFill>
                  <a:srgbClr val="1E1E1E"/>
                </a:solidFill>
              </a:rPr>
              <a:t>• Baum-basierte Modelle</a:t>
            </a:r>
            <a:endParaRPr sz="1200">
              <a:solidFill>
                <a:srgbClr val="1E1E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200">
                <a:solidFill>
                  <a:srgbClr val="1E1E1E"/>
                </a:solidFill>
              </a:rPr>
              <a:t>  zeigten deutlich schwächere</a:t>
            </a:r>
            <a:endParaRPr sz="1200">
              <a:solidFill>
                <a:srgbClr val="1E1E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200">
                <a:solidFill>
                  <a:srgbClr val="1E1E1E"/>
                </a:solidFill>
              </a:rPr>
              <a:t>  Performance.</a:t>
            </a:r>
            <a:endParaRPr sz="1200">
              <a:solidFill>
                <a:srgbClr val="1E1E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E1E1E"/>
              </a:solidFill>
            </a:endParaRPr>
          </a:p>
          <a:p>
            <a:pPr indent="-90000" lvl="0" marL="9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200">
                <a:solidFill>
                  <a:srgbClr val="1E1E1E"/>
                </a:solidFill>
              </a:rPr>
              <a:t>• TF-IDF funktioniert besonders gut mit linearen Modellen.</a:t>
            </a:r>
            <a:endParaRPr sz="1200">
              <a:solidFill>
                <a:srgbClr val="1E1E1E"/>
              </a:solidFill>
            </a:endParaRPr>
          </a:p>
          <a:p>
            <a:pPr indent="-90000" lvl="0" marL="9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E1E1E"/>
              </a:solidFill>
            </a:endParaRPr>
          </a:p>
          <a:p>
            <a:pPr indent="-90000" lvl="0" marL="9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200">
                <a:solidFill>
                  <a:srgbClr val="1E1E1E"/>
                </a:solidFill>
              </a:rPr>
              <a:t>• </a:t>
            </a:r>
            <a:r>
              <a:rPr lang="de" sz="1200">
                <a:solidFill>
                  <a:srgbClr val="1E1E1E"/>
                </a:solidFill>
              </a:rPr>
              <a:t>0.898 </a:t>
            </a:r>
            <a:r>
              <a:rPr lang="de" sz="1200">
                <a:solidFill>
                  <a:srgbClr val="1E1E1E"/>
                </a:solidFill>
              </a:rPr>
              <a:t>Accuracy</a:t>
            </a:r>
            <a:r>
              <a:rPr lang="de" sz="1200">
                <a:solidFill>
                  <a:srgbClr val="1E1E1E"/>
                </a:solidFill>
              </a:rPr>
              <a:t> nach der Hyperparameter-Tuning</a:t>
            </a:r>
            <a:endParaRPr sz="1200">
              <a:solidFill>
                <a:srgbClr val="1E1E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8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220"/>
              <a:t>SHAP-Analyse der wichtigsten Merkmale </a:t>
            </a:r>
            <a:endParaRPr sz="2220"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550" y="603350"/>
            <a:ext cx="5492525" cy="444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 txBox="1"/>
          <p:nvPr/>
        </p:nvSpPr>
        <p:spPr>
          <a:xfrm>
            <a:off x="3445775" y="4843425"/>
            <a:ext cx="144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12</a:t>
            </a:r>
            <a:endParaRPr sz="1100">
              <a:solidFill>
                <a:srgbClr val="666666"/>
              </a:solidFill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5998175" y="1132225"/>
            <a:ext cx="2787900" cy="3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62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de" sz="1100">
                <a:solidFill>
                  <a:srgbClr val="38761D"/>
                </a:solidFill>
              </a:rPr>
              <a:t>great</a:t>
            </a:r>
            <a:r>
              <a:rPr lang="de" sz="1100">
                <a:solidFill>
                  <a:srgbClr val="38761D"/>
                </a:solidFill>
              </a:rPr>
              <a:t>, </a:t>
            </a:r>
            <a:r>
              <a:rPr i="1" lang="de" sz="1100">
                <a:solidFill>
                  <a:srgbClr val="38761D"/>
                </a:solidFill>
              </a:rPr>
              <a:t>excellent</a:t>
            </a:r>
            <a:r>
              <a:rPr lang="de" sz="1100">
                <a:solidFill>
                  <a:srgbClr val="38761D"/>
                </a:solidFill>
              </a:rPr>
              <a:t> </a:t>
            </a:r>
            <a:r>
              <a:rPr lang="de" sz="1100">
                <a:solidFill>
                  <a:schemeClr val="dk1"/>
                </a:solidFill>
              </a:rPr>
              <a:t>und </a:t>
            </a:r>
            <a:r>
              <a:rPr i="1" lang="de" sz="1100">
                <a:solidFill>
                  <a:srgbClr val="38761D"/>
                </a:solidFill>
              </a:rPr>
              <a:t>love</a:t>
            </a:r>
            <a:r>
              <a:rPr lang="de" sz="1100">
                <a:solidFill>
                  <a:schemeClr val="dk1"/>
                </a:solidFill>
              </a:rPr>
              <a:t> fördern positive Vorhersagen.</a:t>
            </a:r>
            <a:endParaRPr sz="1100">
              <a:solidFill>
                <a:schemeClr val="dk1"/>
              </a:solidFill>
            </a:endParaRPr>
          </a:p>
          <a:p>
            <a:pPr indent="-1662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de" sz="1100">
                <a:solidFill>
                  <a:srgbClr val="FF0000"/>
                </a:solidFill>
              </a:rPr>
              <a:t>worst</a:t>
            </a:r>
            <a:r>
              <a:rPr lang="de" sz="1100">
                <a:solidFill>
                  <a:srgbClr val="FF0000"/>
                </a:solidFill>
              </a:rPr>
              <a:t>, </a:t>
            </a:r>
            <a:r>
              <a:rPr i="1" lang="de" sz="1100">
                <a:solidFill>
                  <a:srgbClr val="FF0000"/>
                </a:solidFill>
              </a:rPr>
              <a:t>poor</a:t>
            </a:r>
            <a:r>
              <a:rPr lang="de" sz="1100">
                <a:solidFill>
                  <a:srgbClr val="FF0000"/>
                </a:solidFill>
              </a:rPr>
              <a:t> </a:t>
            </a:r>
            <a:r>
              <a:rPr lang="de" sz="1100">
                <a:solidFill>
                  <a:schemeClr val="dk1"/>
                </a:solidFill>
              </a:rPr>
              <a:t>und </a:t>
            </a:r>
            <a:r>
              <a:rPr i="1" lang="de" sz="1100">
                <a:solidFill>
                  <a:srgbClr val="FF0000"/>
                </a:solidFill>
              </a:rPr>
              <a:t>disappointing</a:t>
            </a:r>
            <a:r>
              <a:rPr lang="de" sz="1100">
                <a:solidFill>
                  <a:schemeClr val="dk1"/>
                </a:solidFill>
              </a:rPr>
              <a:t> verstärken negative Vorhersagen.</a:t>
            </a:r>
            <a:endParaRPr sz="1100">
              <a:solidFill>
                <a:schemeClr val="dk1"/>
              </a:solidFill>
            </a:endParaRPr>
          </a:p>
          <a:p>
            <a:pPr indent="-1662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" sz="1100">
                <a:solidFill>
                  <a:schemeClr val="dk1"/>
                </a:solidFill>
              </a:rPr>
              <a:t>Die SHAP-Ergebnisse bestätigen die Erkenntnisse aus der Unigramm- und Bigramm-Analyse.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218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220"/>
              <a:t>Vergleich mit ChatGPT / LLM </a:t>
            </a:r>
            <a:endParaRPr sz="2220"/>
          </a:p>
        </p:txBody>
      </p:sp>
      <p:sp>
        <p:nvSpPr>
          <p:cNvPr id="168" name="Google Shape;168;p25"/>
          <p:cNvSpPr txBox="1"/>
          <p:nvPr/>
        </p:nvSpPr>
        <p:spPr>
          <a:xfrm>
            <a:off x="3450000" y="4848875"/>
            <a:ext cx="144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13</a:t>
            </a:r>
            <a:endParaRPr sz="1100">
              <a:solidFill>
                <a:srgbClr val="666666"/>
              </a:solidFill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 rotWithShape="1">
          <a:blip r:embed="rId3">
            <a:alphaModFix/>
          </a:blip>
          <a:srcRect b="0" l="0" r="0" t="27845"/>
          <a:stretch/>
        </p:blipFill>
        <p:spPr>
          <a:xfrm>
            <a:off x="334175" y="1044124"/>
            <a:ext cx="4989976" cy="36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/>
        </p:nvSpPr>
        <p:spPr>
          <a:xfrm>
            <a:off x="5509200" y="1243175"/>
            <a:ext cx="3084600" cy="3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de" sz="1500">
                <a:solidFill>
                  <a:schemeClr val="dk2"/>
                </a:solidFill>
              </a:rPr>
              <a:t>Accuracy: 90%</a:t>
            </a:r>
            <a:endParaRPr sz="15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de" sz="1500">
                <a:solidFill>
                  <a:schemeClr val="dk2"/>
                </a:solidFill>
              </a:rPr>
              <a:t>Precision: 86%</a:t>
            </a:r>
            <a:endParaRPr sz="15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de" sz="1500">
                <a:solidFill>
                  <a:schemeClr val="dk2"/>
                </a:solidFill>
              </a:rPr>
              <a:t>Recall: 96%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2"/>
                </a:solidFill>
              </a:rPr>
              <a:t>LLM erkannte positive Bewertungen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2"/>
                </a:solidFill>
              </a:rPr>
              <a:t>besonders zuverlässig. 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2558100" y="1324100"/>
            <a:ext cx="1572600" cy="1474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25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220"/>
              <a:t>Fazit </a:t>
            </a:r>
            <a:endParaRPr sz="2220"/>
          </a:p>
        </p:txBody>
      </p:sp>
      <p:sp>
        <p:nvSpPr>
          <p:cNvPr id="177" name="Google Shape;177;p26"/>
          <p:cNvSpPr txBox="1"/>
          <p:nvPr/>
        </p:nvSpPr>
        <p:spPr>
          <a:xfrm>
            <a:off x="3450000" y="4848875"/>
            <a:ext cx="144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14</a:t>
            </a:r>
            <a:endParaRPr sz="1100">
              <a:solidFill>
                <a:srgbClr val="666666"/>
              </a:solidFill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545475" y="1028775"/>
            <a:ext cx="2038500" cy="918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Lowercase</a:t>
            </a:r>
            <a:endParaRPr sz="1800"/>
          </a:p>
        </p:txBody>
      </p:sp>
      <p:sp>
        <p:nvSpPr>
          <p:cNvPr id="179" name="Google Shape;179;p26"/>
          <p:cNvSpPr/>
          <p:nvPr/>
        </p:nvSpPr>
        <p:spPr>
          <a:xfrm>
            <a:off x="545475" y="2332250"/>
            <a:ext cx="2038500" cy="918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TF-IDF</a:t>
            </a:r>
            <a:endParaRPr sz="1800"/>
          </a:p>
        </p:txBody>
      </p:sp>
      <p:sp>
        <p:nvSpPr>
          <p:cNvPr id="180" name="Google Shape;180;p26"/>
          <p:cNvSpPr/>
          <p:nvPr/>
        </p:nvSpPr>
        <p:spPr>
          <a:xfrm>
            <a:off x="545475" y="3635750"/>
            <a:ext cx="2038500" cy="918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Logistic 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Regression</a:t>
            </a:r>
            <a:endParaRPr sz="1800"/>
          </a:p>
        </p:txBody>
      </p:sp>
      <p:sp>
        <p:nvSpPr>
          <p:cNvPr id="181" name="Google Shape;181;p26"/>
          <p:cNvSpPr/>
          <p:nvPr/>
        </p:nvSpPr>
        <p:spPr>
          <a:xfrm>
            <a:off x="3450000" y="2256950"/>
            <a:ext cx="2373300" cy="10692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Accuracy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89,8%</a:t>
            </a:r>
            <a:endParaRPr sz="1800"/>
          </a:p>
        </p:txBody>
      </p:sp>
      <p:sp>
        <p:nvSpPr>
          <p:cNvPr id="182" name="Google Shape;182;p26"/>
          <p:cNvSpPr/>
          <p:nvPr/>
        </p:nvSpPr>
        <p:spPr>
          <a:xfrm>
            <a:off x="6435075" y="1028775"/>
            <a:ext cx="2373300" cy="918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/>
              <a:t>Aggressives Preprocessing brachte keine Verbesserung  </a:t>
            </a:r>
            <a:endParaRPr sz="1600"/>
          </a:p>
        </p:txBody>
      </p:sp>
      <p:sp>
        <p:nvSpPr>
          <p:cNvPr id="183" name="Google Shape;183;p26"/>
          <p:cNvSpPr/>
          <p:nvPr/>
        </p:nvSpPr>
        <p:spPr>
          <a:xfrm>
            <a:off x="6435075" y="2279600"/>
            <a:ext cx="2373300" cy="918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/>
              <a:t>Datenrepräsentation hatte größeren Einfluss als Hyperparameter-</a:t>
            </a:r>
            <a:r>
              <a:rPr lang="de"/>
              <a:t>Tuning.</a:t>
            </a:r>
            <a:r>
              <a:rPr lang="de" sz="1600"/>
              <a:t> </a:t>
            </a:r>
            <a:r>
              <a:rPr lang="de" sz="1600"/>
              <a:t> </a:t>
            </a:r>
            <a:endParaRPr sz="1600"/>
          </a:p>
        </p:txBody>
      </p:sp>
      <p:sp>
        <p:nvSpPr>
          <p:cNvPr id="184" name="Google Shape;184;p26"/>
          <p:cNvSpPr/>
          <p:nvPr/>
        </p:nvSpPr>
        <p:spPr>
          <a:xfrm>
            <a:off x="6435075" y="3635750"/>
            <a:ext cx="2373300" cy="9186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/>
              <a:t>LLMs erzielten  vergleichbare Ergebnisse </a:t>
            </a:r>
            <a:r>
              <a:rPr lang="de" sz="1600"/>
              <a:t>  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4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4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4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4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11700" y="234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220"/>
              <a:t>Ausblick </a:t>
            </a:r>
            <a:endParaRPr sz="2220"/>
          </a:p>
        </p:txBody>
      </p:sp>
      <p:sp>
        <p:nvSpPr>
          <p:cNvPr id="190" name="Google Shape;190;p27"/>
          <p:cNvSpPr txBox="1"/>
          <p:nvPr/>
        </p:nvSpPr>
        <p:spPr>
          <a:xfrm>
            <a:off x="3450000" y="4848875"/>
            <a:ext cx="144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15</a:t>
            </a:r>
            <a:endParaRPr sz="1100">
              <a:solidFill>
                <a:srgbClr val="666666"/>
              </a:solidFill>
            </a:endParaRPr>
          </a:p>
        </p:txBody>
      </p:sp>
      <p:sp>
        <p:nvSpPr>
          <p:cNvPr id="191" name="Google Shape;191;p27"/>
          <p:cNvSpPr/>
          <p:nvPr/>
        </p:nvSpPr>
        <p:spPr>
          <a:xfrm>
            <a:off x="416300" y="1579025"/>
            <a:ext cx="2358900" cy="3244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0000" spcFirstLastPara="1" rIns="91425" wrap="square" tIns="91425">
            <a:noAutofit/>
          </a:bodyPr>
          <a:lstStyle/>
          <a:p>
            <a:pPr indent="-2159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sz="1300"/>
              <a:t>LLM-Vergleich basiert auf einer Stichprobe von 2000 Bewertungen.  </a:t>
            </a:r>
            <a:endParaRPr sz="1300"/>
          </a:p>
          <a:p>
            <a:pPr indent="-21590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de" sz="1300"/>
              <a:t>Zweiklassen-Klassifikation (positiv/negativ). </a:t>
            </a:r>
            <a:endParaRPr sz="1300"/>
          </a:p>
          <a:p>
            <a:pPr indent="-21590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de" sz="1300"/>
              <a:t>Untersuchung nur eines Amazon-Review-Datensatzes. </a:t>
            </a:r>
            <a:endParaRPr sz="1300"/>
          </a:p>
          <a:p>
            <a:pPr indent="-21590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de" sz="1300"/>
              <a:t>Analyse ausschließlich englischsprachiger Texte.  </a:t>
            </a:r>
            <a:endParaRPr sz="1300"/>
          </a:p>
        </p:txBody>
      </p:sp>
      <p:sp>
        <p:nvSpPr>
          <p:cNvPr id="192" name="Google Shape;192;p27"/>
          <p:cNvSpPr/>
          <p:nvPr/>
        </p:nvSpPr>
        <p:spPr>
          <a:xfrm>
            <a:off x="3511425" y="1604675"/>
            <a:ext cx="2358900" cy="3244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7800" lvl="0" marL="1800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sz="1300"/>
              <a:t>Erweiterung auf eine mehrstufige Sentimentanalyse (positiv, neutral, negativ). </a:t>
            </a:r>
            <a:endParaRPr sz="1300"/>
          </a:p>
          <a:p>
            <a:pPr indent="-177800" lvl="0" marL="1800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de" sz="1300"/>
              <a:t>Untersuchung weiterer Datensätze und Domänen. </a:t>
            </a:r>
            <a:endParaRPr sz="1300"/>
          </a:p>
          <a:p>
            <a:pPr indent="-177800" lvl="0" marL="1800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de" sz="1300"/>
              <a:t>Vergleich mit modernen Transformer-Modellen (BERT, RoBERTa). </a:t>
            </a:r>
            <a:endParaRPr sz="1300"/>
          </a:p>
          <a:p>
            <a:pPr indent="-177800" lvl="0" marL="180000" rtl="0" algn="l"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de" sz="1300"/>
              <a:t>Analyse größerer LLMs und Fine-Tuning-Ansätze.</a:t>
            </a:r>
            <a:endParaRPr sz="1300"/>
          </a:p>
        </p:txBody>
      </p:sp>
      <p:sp>
        <p:nvSpPr>
          <p:cNvPr id="193" name="Google Shape;193;p27"/>
          <p:cNvSpPr/>
          <p:nvPr/>
        </p:nvSpPr>
        <p:spPr>
          <a:xfrm>
            <a:off x="6343325" y="1630225"/>
            <a:ext cx="2358900" cy="3244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5425" lvl="0" marL="1800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 sz="1300"/>
              <a:t>Automatische Analyse großer Mengen</a:t>
            </a:r>
            <a:endParaRPr sz="1300"/>
          </a:p>
          <a:p>
            <a:pPr indent="-225425" lvl="0" marL="1800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de" sz="1300"/>
              <a:t>Schnellere Erkennung von Kundenproblemen. </a:t>
            </a:r>
            <a:endParaRPr sz="1300"/>
          </a:p>
          <a:p>
            <a:pPr indent="-225425" lvl="0" marL="1800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de" sz="1300"/>
              <a:t>Unterstützung von Entscheidungen. </a:t>
            </a:r>
            <a:endParaRPr sz="1300"/>
          </a:p>
          <a:p>
            <a:pPr indent="-225425" lvl="0" marL="180000" rtl="0" algn="l"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de" sz="1300"/>
              <a:t>Zeit- und Kostenersparnis </a:t>
            </a:r>
            <a:endParaRPr sz="1300"/>
          </a:p>
        </p:txBody>
      </p:sp>
      <p:sp>
        <p:nvSpPr>
          <p:cNvPr id="194" name="Google Shape;194;p27"/>
          <p:cNvSpPr txBox="1"/>
          <p:nvPr/>
        </p:nvSpPr>
        <p:spPr>
          <a:xfrm>
            <a:off x="698600" y="937850"/>
            <a:ext cx="179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Limitationen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3674850" y="807050"/>
            <a:ext cx="179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Zukünftige Arbeiten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6651100" y="807050"/>
            <a:ext cx="1794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Praktischer Nutzen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/>
        </p:nvSpPr>
        <p:spPr>
          <a:xfrm>
            <a:off x="3450000" y="4848875"/>
            <a:ext cx="14487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rgbClr val="666666"/>
                </a:solidFill>
              </a:rPr>
              <a:t>16</a:t>
            </a:r>
            <a:endParaRPr sz="1100">
              <a:solidFill>
                <a:srgbClr val="666666"/>
              </a:solidFill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1220925" y="1780000"/>
            <a:ext cx="6978600" cy="22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100">
                <a:solidFill>
                  <a:schemeClr val="dk1"/>
                </a:solidFill>
              </a:rPr>
              <a:t>Vielen Dank für Ihre Aufmerksamkeit!</a:t>
            </a:r>
            <a:endParaRPr sz="3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1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